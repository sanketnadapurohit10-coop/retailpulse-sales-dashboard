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3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1678251.96</c:v>
                </c:pt>
                <c:pt idx="1">
                  <c:v>1982209.06</c:v>
                </c:pt>
                <c:pt idx="2">
                  <c:v>2091366.06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E2A53A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73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355000</c:v>
                </c:pt>
                <c:pt idx="1">
                  <c:v>415000</c:v>
                </c:pt>
                <c:pt idx="2">
                  <c:v>471000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00" u="none">
                  <a:solidFill>
                    <a:srgbClr val="6B738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3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1F8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3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3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3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1765103.04</c:v>
                </c:pt>
                <c:pt idx="1">
                  <c:v>1397628.57</c:v>
                </c:pt>
                <c:pt idx="2">
                  <c:v>1389744.41</c:v>
                </c:pt>
                <c:pt idx="3">
                  <c:v>1199351.06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6B738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15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F1F8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9F8E"/>
              </a:solidFill>
              <a:effectLst/>
            </c:spPr>
          </c:dPt>
          <c:dPt>
            <c:idx val="1"/>
            <c:bubble3D val="0"/>
            <c:spPr>
              <a:solidFill>
                <a:srgbClr val="E2A53A"/>
              </a:solidFill>
              <a:effectLst/>
            </c:spPr>
          </c:dPt>
          <c:dPt>
            <c:idx val="2"/>
            <c:bubble3D val="0"/>
            <c:spPr>
              <a:solidFill>
                <a:srgbClr val="7666E0"/>
              </a:solidFill>
              <a:effectLst/>
            </c:spPr>
          </c:dPt>
          <c:dPt>
            <c:idx val="3"/>
            <c:bubble3D val="0"/>
            <c:spPr>
              <a:solidFill>
                <a:srgbClr val="E0654F"/>
              </a:solidFill>
              <a:effectLst/>
            </c:spPr>
          </c:dPt>
          <c:dPt>
            <c:idx val="4"/>
            <c:bubble3D val="0"/>
            <c:spPr>
              <a:solidFill>
                <a:srgbClr val="3F8FD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Furniture</c:v>
                </c:pt>
                <c:pt idx="1">
                  <c:v>Electronics</c:v>
                </c:pt>
                <c:pt idx="2">
                  <c:v>Clothing</c:v>
                </c:pt>
                <c:pt idx="3">
                  <c:v>Office Supplies</c:v>
                </c:pt>
                <c:pt idx="4">
                  <c:v>Food &amp; Bev.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2931670.4</c:v>
                </c:pt>
                <c:pt idx="1">
                  <c:v>2002157.67</c:v>
                </c:pt>
                <c:pt idx="2">
                  <c:v>387246.49</c:v>
                </c:pt>
                <c:pt idx="3">
                  <c:v>268226.38</c:v>
                </c:pt>
                <c:pt idx="4">
                  <c:v>162526.14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B73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300" b="0" i="0" u="none" strike="noStrike">
                <a:solidFill>
                  <a:srgbClr val="1015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01522"/>
                </a:solidFill>
                <a:latin typeface="Arial"/>
              </a:rPr>
              <a:t>Profit Margin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7666E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38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Clothing</c:v>
                  </c:pt>
                  <c:pt idx="1">
                    <c:v>Office Supplies</c:v>
                  </c:pt>
                  <c:pt idx="2">
                    <c:v>Furniture</c:v>
                  </c:pt>
                  <c:pt idx="3">
                    <c:v>Electronics</c:v>
                  </c:pt>
                  <c:pt idx="4">
                    <c:v>Food &amp; Bev.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35.1</c:v>
                </c:pt>
                <c:pt idx="1">
                  <c:v>27.8</c:v>
                </c:pt>
                <c:pt idx="2">
                  <c:v>22</c:v>
                </c:pt>
                <c:pt idx="3">
                  <c:v>18</c:v>
                </c:pt>
                <c:pt idx="4">
                  <c:v>15.2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6B738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15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F1F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A2E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182544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1825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FINANCIAL PERFORMANCE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Dashboard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CE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Power BI–style dashboard for tracking sales, profitability, and growth across regions, categories, and customer segments.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806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Stakeholders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5806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0" y="6035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Financial, 2022–2024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0" y="5806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80960" y="6035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Web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years of steady, profitable growth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FY2022–FY2024 · All regions, categories &amp; segments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1522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92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4F7F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04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624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$5.75M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9808" y="3108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24.6% FY22→FY24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152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1892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BF1DE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2404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2624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$1.24M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84448" y="3108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A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21.6% margin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1522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1892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FE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2404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624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6,558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19088" y="3108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6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26,563 units sold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01522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53728" y="189280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BE9E6"/>
          </a:solidFill>
          <a:ln/>
        </p:spPr>
      </p:sp>
      <p:sp>
        <p:nvSpPr>
          <p:cNvPr id="22" name="Text 20"/>
          <p:cNvSpPr/>
          <p:nvPr/>
        </p:nvSpPr>
        <p:spPr>
          <a:xfrm>
            <a:off x="9253728" y="2404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35440" y="2624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53728" y="31089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6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channels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794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Region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5120640" cy="173736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385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B7385"/>
                          </a:solidFill>
                        </a:rPr>
                        <a:t>Sales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North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$1.77M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South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$1.40M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East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$1.39M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West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$1.20M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60350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Category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4160520"/>
          <a:ext cx="5577840" cy="173736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385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B7385"/>
                          </a:solidFill>
                        </a:rPr>
                        <a:t>Sales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6B7385"/>
                          </a:solidFill>
                        </a:rPr>
                        <a:t>Margin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Furniture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$2.93M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22.0%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Electronics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$2.00M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18.0%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Clothing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$0.39M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35.1%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Office Supplies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$0.27M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01522"/>
                          </a:solidFill>
                        </a:rPr>
                        <a:t>27.8%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 ·  Sales &amp; Financial Dashboard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A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profit have climbed every year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sales grew from $1.68M in FY22 to $2.09M in FY24, a 24.6% increase, while profit margin held steady near 21–22%.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6F7FB"/>
          </a:solidFill>
          <a:ln/>
        </p:spPr>
      </p:sp>
      <p:sp>
        <p:nvSpPr>
          <p:cNvPr id="7" name="Shape 4"/>
          <p:cNvSpPr/>
          <p:nvPr/>
        </p:nvSpPr>
        <p:spPr>
          <a:xfrm>
            <a:off x="7589520" y="1828800"/>
            <a:ext cx="54864" cy="1234440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1956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growth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18120" y="226771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rose every single year with no seasonal decline year-over-year.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89520" y="32461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6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7589520" y="3246120"/>
            <a:ext cx="54864" cy="1234440"/>
          </a:xfrm>
          <a:prstGeom prst="rect">
            <a:avLst/>
          </a:prstGeom>
          <a:solidFill>
            <a:srgbClr val="E2A53A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33741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margins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818120" y="368503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stayed in a healthy 20–22% band across the full period.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89520" y="46634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6F7FB"/>
          </a:solidFill>
          <a:ln/>
        </p:spPr>
      </p:sp>
      <p:sp>
        <p:nvSpPr>
          <p:cNvPr id="15" name="Shape 12"/>
          <p:cNvSpPr/>
          <p:nvPr/>
        </p:nvSpPr>
        <p:spPr>
          <a:xfrm>
            <a:off x="7589520" y="4663440"/>
            <a:ext cx="54864" cy="1234440"/>
          </a:xfrm>
          <a:prstGeom prst="rect">
            <a:avLst/>
          </a:prstGeom>
          <a:solidFill>
            <a:srgbClr val="7666E0"/>
          </a:solidFill>
          <a:ln/>
        </p:spPr>
      </p:sp>
      <p:sp>
        <p:nvSpPr>
          <p:cNvPr id="16" name="Text 13"/>
          <p:cNvSpPr/>
          <p:nvPr/>
        </p:nvSpPr>
        <p:spPr>
          <a:xfrm>
            <a:off x="7818120" y="4791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strength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18120" y="5102352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Fourth-quarter months consistently outperform, driven by Furniture &amp; Electronics.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 ·  Sales &amp; Financial Dashboard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66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leads; West has the most room to grow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Region-level slicers in the dashboard let stakeholders isolate performance and compare trends side by side.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0350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90372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Snapshot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03720" y="2148840"/>
            <a:ext cx="4709160" cy="777240"/>
          </a:xfrm>
          <a:prstGeom prst="roundRect">
            <a:avLst>
              <a:gd name="adj" fmla="val 8235"/>
            </a:avLst>
          </a:prstGeom>
          <a:solidFill>
            <a:srgbClr val="F6F7FB"/>
          </a:solidFill>
          <a:ln/>
        </p:spPr>
      </p:sp>
      <p:sp>
        <p:nvSpPr>
          <p:cNvPr id="8" name="Shape 5"/>
          <p:cNvSpPr/>
          <p:nvPr/>
        </p:nvSpPr>
        <p:spPr>
          <a:xfrm>
            <a:off x="7086600" y="2404872"/>
            <a:ext cx="256032" cy="256032"/>
          </a:xfrm>
          <a:prstGeom prst="ellipse">
            <a:avLst/>
          </a:prstGeom>
          <a:solidFill>
            <a:srgbClr val="0E9F8E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98080" y="2532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$1.77M total sales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332720" y="23682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30.7%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903720" y="3081528"/>
            <a:ext cx="4709160" cy="777240"/>
          </a:xfrm>
          <a:prstGeom prst="roundRect">
            <a:avLst>
              <a:gd name="adj" fmla="val 8235"/>
            </a:avLst>
          </a:prstGeom>
          <a:solidFill>
            <a:srgbClr val="F6F7FB"/>
          </a:solidFill>
          <a:ln/>
        </p:spPr>
      </p:sp>
      <p:sp>
        <p:nvSpPr>
          <p:cNvPr id="13" name="Shape 10"/>
          <p:cNvSpPr/>
          <p:nvPr/>
        </p:nvSpPr>
        <p:spPr>
          <a:xfrm>
            <a:off x="7086600" y="3337560"/>
            <a:ext cx="256032" cy="256032"/>
          </a:xfrm>
          <a:prstGeom prst="ellipse">
            <a:avLst/>
          </a:prstGeom>
          <a:solidFill>
            <a:srgbClr val="E2A53A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49808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$1.40M total sales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332720" y="33009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2A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903720" y="4014216"/>
            <a:ext cx="4709160" cy="777240"/>
          </a:xfrm>
          <a:prstGeom prst="roundRect">
            <a:avLst>
              <a:gd name="adj" fmla="val 8235"/>
            </a:avLst>
          </a:prstGeom>
          <a:solidFill>
            <a:srgbClr val="F6F7FB"/>
          </a:solidFill>
          <a:ln/>
        </p:spPr>
      </p:sp>
      <p:sp>
        <p:nvSpPr>
          <p:cNvPr id="18" name="Shape 15"/>
          <p:cNvSpPr/>
          <p:nvPr/>
        </p:nvSpPr>
        <p:spPr>
          <a:xfrm>
            <a:off x="7086600" y="4270248"/>
            <a:ext cx="256032" cy="256032"/>
          </a:xfrm>
          <a:prstGeom prst="ellipse">
            <a:avLst/>
          </a:prstGeom>
          <a:solidFill>
            <a:srgbClr val="7666E0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0" y="4123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498080" y="43982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$1.39M total sales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332720" y="42336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766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903720" y="4946904"/>
            <a:ext cx="4709160" cy="777240"/>
          </a:xfrm>
          <a:prstGeom prst="roundRect">
            <a:avLst>
              <a:gd name="adj" fmla="val 8235"/>
            </a:avLst>
          </a:prstGeom>
          <a:solidFill>
            <a:srgbClr val="F6F7FB"/>
          </a:solidFill>
          <a:ln/>
        </p:spPr>
      </p:sp>
      <p:sp>
        <p:nvSpPr>
          <p:cNvPr id="23" name="Shape 20"/>
          <p:cNvSpPr/>
          <p:nvPr/>
        </p:nvSpPr>
        <p:spPr>
          <a:xfrm>
            <a:off x="7086600" y="5202936"/>
            <a:ext cx="256032" cy="256032"/>
          </a:xfrm>
          <a:prstGeom prst="ellipse">
            <a:avLst/>
          </a:prstGeom>
          <a:solidFill>
            <a:srgbClr val="E0654F"/>
          </a:solidFill>
          <a:ln/>
        </p:spPr>
      </p:sp>
      <p:sp>
        <p:nvSpPr>
          <p:cNvPr id="24" name="Text 21"/>
          <p:cNvSpPr/>
          <p:nvPr/>
        </p:nvSpPr>
        <p:spPr>
          <a:xfrm>
            <a:off x="7498080" y="5056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498080" y="5330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$1.20M total sales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332720" y="5166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6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 ·  Sales &amp; Financial Dashboard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6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drives revenue, Clothing drives margin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and Electronics together generate 86% of sales, while Clothing delivers the highest profit margin at 35.1%.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51206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035040" y="1737360"/>
          <a:ext cx="55778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 ·  Sales &amp; Financial Dashboard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self-service exploration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interactive dashboard lets stakeholders answer their own questions without waiting on a report.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385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4F7F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87168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menu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83464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with 5 views: Overview, Trends, Regional, Category Mix, Data Detail.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73736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9385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F1DE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2487168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 &amp; filters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07992" y="283464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Year, Region, Category and Segment dropdowns update every chart instantly.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65008" y="173736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19385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FEC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2487168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summary cards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66176" y="283464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Sales, Profit, Margin, Orders and AOV, with period-over-period deltas.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133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E9E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681728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analysis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9808" y="50292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 lines for sales, profit, margin % and order volume, 2022–2024.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06824" y="393192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7992" y="4133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4F7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07992" y="4681728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color theme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07992" y="50292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teal / amber / violet / coral palette used across every chart and card.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65008" y="3931920"/>
            <a:ext cx="352958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66176" y="4133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F1DE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4681728"/>
            <a:ext cx="3127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&amp; category views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66176" y="5029200"/>
            <a:ext cx="3127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3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comparison pages with summary tables for deeper analysis.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RetailPulse  ·  Sales &amp; Financial 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16184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Furniture &amp; Electronics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categories drive 86% of revenue. Prioritize inventory and marketing spend here.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26700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Clothing's margin advantage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30358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35.1% margin, Clothing is the most profitable category per dollar — worth expanding selection.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37216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West region gap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40873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trails North by $566K in sales; a targeted regional promotion could close part of that gap.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47731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Food &amp; Beverage margin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51389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15.2% margin, this category is the weakest performer and may need pricing or cost review.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989320"/>
            <a:ext cx="11091672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CE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this dashboard turns raw sales &amp; financial data into decisions business stakeholders can act on immediately.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2026-07-29T06:32:29Z</dcterms:created>
  <dcterms:modified xsi:type="dcterms:W3CDTF">2026-07-29T06:32:29Z</dcterms:modified>
</cp:coreProperties>
</file>